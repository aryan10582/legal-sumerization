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c0c0dfda3a47c7" /><Relationship Type="http://schemas.openxmlformats.org/officeDocument/2006/relationships/extended-properties" Target="/docProps/app.xml" Id="R518af04b58e947dc" /><Relationship Type="http://schemas.openxmlformats.org/officeDocument/2006/relationships/officeDocument" Target="/ppt/presentation.xml" Id="R05ad70f7358c47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e26c9501c0438b"/>
  </p:sldMasterIdLst>
  <p:notesMasterIdLst>
    <p:notesMasterId xmlns:r="http://schemas.openxmlformats.org/officeDocument/2006/relationships" r:id="R26678e979f3c4ebe"/>
  </p:notesMasterIdLst>
  <p:sldIdLst>
    <p:sldId xmlns:r="http://schemas.openxmlformats.org/officeDocument/2006/relationships" id="256" r:id="Rc25cd125c8c64b2a"/>
    <p:sldId xmlns:r="http://schemas.openxmlformats.org/officeDocument/2006/relationships" id="257" r:id="Ra0cc4bd81a474937"/>
    <p:sldId xmlns:r="http://schemas.openxmlformats.org/officeDocument/2006/relationships" id="258" r:id="R08447a2edcfb4a1a"/>
    <p:sldId xmlns:r="http://schemas.openxmlformats.org/officeDocument/2006/relationships" id="259" r:id="R9ea0c9ce386b426b"/>
    <p:sldId xmlns:r="http://schemas.openxmlformats.org/officeDocument/2006/relationships" id="260" r:id="Rfe76df6fe2304669"/>
    <p:sldId xmlns:r="http://schemas.openxmlformats.org/officeDocument/2006/relationships" id="261" r:id="R3774d43e556442a9"/>
    <p:sldId xmlns:r="http://schemas.openxmlformats.org/officeDocument/2006/relationships" id="262" r:id="Rf1afe5ae69fb49ea"/>
    <p:sldId xmlns:r="http://schemas.openxmlformats.org/officeDocument/2006/relationships" id="263" r:id="Rbda295fe532a4d1b"/>
    <p:sldId xmlns:r="http://schemas.openxmlformats.org/officeDocument/2006/relationships" id="264" r:id="Rdcf5504ad22a4b4c"/>
    <p:sldId xmlns:r="http://schemas.openxmlformats.org/officeDocument/2006/relationships" id="265" r:id="Rbd232ad5c5b041a2"/>
    <p:sldId xmlns:r="http://schemas.openxmlformats.org/officeDocument/2006/relationships" id="266" r:id="Rb5e5ed8bea7b4932"/>
    <p:sldId xmlns:r="http://schemas.openxmlformats.org/officeDocument/2006/relationships" id="267" r:id="R0c037729d3fc4ac7"/>
    <p:sldId xmlns:r="http://schemas.openxmlformats.org/officeDocument/2006/relationships" id="268" r:id="Rf1257fb308f34a30"/>
    <p:sldId xmlns:r="http://schemas.openxmlformats.org/officeDocument/2006/relationships" id="269" r:id="Rdb5d186af75249ab"/>
    <p:sldId xmlns:r="http://schemas.openxmlformats.org/officeDocument/2006/relationships" id="270" r:id="Rdc2c44a685b44f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99cc2ffdc64d30" /><Relationship Type="http://schemas.openxmlformats.org/officeDocument/2006/relationships/slideMaster" Target="/ppt/slideMasters/slideMaster1.xml" Id="R41e26c9501c0438b" /><Relationship Type="http://schemas.openxmlformats.org/officeDocument/2006/relationships/notesMaster" Target="/ppt/notesMasters/notesMaster1.xml" Id="R26678e979f3c4ebe" /><Relationship Type="http://schemas.openxmlformats.org/officeDocument/2006/relationships/presProps" Target="/ppt/presProps.xml" Id="R5f984a4317b44f51" /><Relationship Type="http://schemas.openxmlformats.org/officeDocument/2006/relationships/tableStyles" Target="/ppt/tableStyles.xml" Id="R17372cb89e984239" /><Relationship Type="http://schemas.openxmlformats.org/officeDocument/2006/relationships/slide" Target="/ppt/slides/slide1.xml" Id="Rc25cd125c8c64b2a" /><Relationship Type="http://schemas.openxmlformats.org/officeDocument/2006/relationships/slide" Target="/ppt/slides/slide2.xml" Id="Ra0cc4bd81a474937" /><Relationship Type="http://schemas.openxmlformats.org/officeDocument/2006/relationships/slide" Target="/ppt/slides/slide3.xml" Id="R08447a2edcfb4a1a" /><Relationship Type="http://schemas.openxmlformats.org/officeDocument/2006/relationships/slide" Target="/ppt/slides/slide4.xml" Id="R9ea0c9ce386b426b" /><Relationship Type="http://schemas.openxmlformats.org/officeDocument/2006/relationships/slide" Target="/ppt/slides/slide5.xml" Id="Rfe76df6fe2304669" /><Relationship Type="http://schemas.openxmlformats.org/officeDocument/2006/relationships/slide" Target="/ppt/slides/slide6.xml" Id="R3774d43e556442a9" /><Relationship Type="http://schemas.openxmlformats.org/officeDocument/2006/relationships/slide" Target="/ppt/slides/slide7.xml" Id="Rf1afe5ae69fb49ea" /><Relationship Type="http://schemas.openxmlformats.org/officeDocument/2006/relationships/slide" Target="/ppt/slides/slide8.xml" Id="Rbda295fe532a4d1b" /><Relationship Type="http://schemas.openxmlformats.org/officeDocument/2006/relationships/slide" Target="/ppt/slides/slide9.xml" Id="Rdcf5504ad22a4b4c" /><Relationship Type="http://schemas.openxmlformats.org/officeDocument/2006/relationships/slide" Target="/ppt/slides/slide10.xml" Id="Rbd232ad5c5b041a2" /><Relationship Type="http://schemas.openxmlformats.org/officeDocument/2006/relationships/slide" Target="/ppt/slides/slide11.xml" Id="Rb5e5ed8bea7b4932" /><Relationship Type="http://schemas.openxmlformats.org/officeDocument/2006/relationships/slide" Target="/ppt/slides/slide12.xml" Id="R0c037729d3fc4ac7" /><Relationship Type="http://schemas.openxmlformats.org/officeDocument/2006/relationships/slide" Target="/ppt/slides/slide13.xml" Id="Rf1257fb308f34a30" /><Relationship Type="http://schemas.openxmlformats.org/officeDocument/2006/relationships/slide" Target="/ppt/slides/slide14.xml" Id="Rdb5d186af75249ab" /><Relationship Type="http://schemas.openxmlformats.org/officeDocument/2006/relationships/slide" Target="/ppt/slides/slide15.xml" Id="Rdc2c44a685b44f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bdc086de7f49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d0283da4f248d5" /><Relationship Type="http://schemas.openxmlformats.org/officeDocument/2006/relationships/notesMaster" Target="/ppt/notesMasters/notesMaster1.xml" Id="Rab564d2f376f4a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2625310e9e40eb" /><Relationship Type="http://schemas.openxmlformats.org/officeDocument/2006/relationships/notesMaster" Target="/ppt/notesMasters/notesMaster1.xml" Id="R5cf8d181403342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b18f16603e48ec" /><Relationship Type="http://schemas.openxmlformats.org/officeDocument/2006/relationships/notesMaster" Target="/ppt/notesMasters/notesMaster1.xml" Id="R2594fedcaa4c4c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e52fe0d3ac49fc" /><Relationship Type="http://schemas.openxmlformats.org/officeDocument/2006/relationships/notesMaster" Target="/ppt/notesMasters/notesMaster1.xml" Id="Rdd2b116aed3442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773f63e63c4a7c" /><Relationship Type="http://schemas.openxmlformats.org/officeDocument/2006/relationships/notesMaster" Target="/ppt/notesMasters/notesMaster1.xml" Id="R34ea0e23337d49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7b7de2c0fb4be1" /><Relationship Type="http://schemas.openxmlformats.org/officeDocument/2006/relationships/notesMaster" Target="/ppt/notesMasters/notesMaster1.xml" Id="R4a3b240ec1cb45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56e0369ae844c5" /><Relationship Type="http://schemas.openxmlformats.org/officeDocument/2006/relationships/notesMaster" Target="/ppt/notesMasters/notesMaster1.xml" Id="Rcca727dbac444a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fe2f25a74a4638" /><Relationship Type="http://schemas.openxmlformats.org/officeDocument/2006/relationships/notesMaster" Target="/ppt/notesMasters/notesMaster1.xml" Id="Rd7fc8e2a4f1b4c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b136a738d94998" /><Relationship Type="http://schemas.openxmlformats.org/officeDocument/2006/relationships/notesMaster" Target="/ppt/notesMasters/notesMaster1.xml" Id="Rcc337880cdde45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b07836b43c44ba" /><Relationship Type="http://schemas.openxmlformats.org/officeDocument/2006/relationships/notesMaster" Target="/ppt/notesMasters/notesMaster1.xml" Id="R881221975bd6424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d6c1f03d1664b80" /><Relationship Type="http://schemas.openxmlformats.org/officeDocument/2006/relationships/notesMaster" Target="/ppt/notesMasters/notesMaster1.xml" Id="R191924b13f2f412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46922d3123a4b94" /><Relationship Type="http://schemas.openxmlformats.org/officeDocument/2006/relationships/notesMaster" Target="/ppt/notesMasters/notesMaster1.xml" Id="R021a1332f1c24b0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541f41547be4488" /><Relationship Type="http://schemas.openxmlformats.org/officeDocument/2006/relationships/notesMaster" Target="/ppt/notesMasters/notesMaster1.xml" Id="Rfa93c3c90d064ab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728d9981e1042c3" /><Relationship Type="http://schemas.openxmlformats.org/officeDocument/2006/relationships/notesMaster" Target="/ppt/notesMasters/notesMaster1.xml" Id="R79ba8bb27854461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4e991dd4bce47b6" /><Relationship Type="http://schemas.openxmlformats.org/officeDocument/2006/relationships/notesMaster" Target="/ppt/notesMasters/notesMaster1.xml" Id="R8446271934ce41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synopsis and front-page DOCX. The guide spelling and whether there are one or two guides conflict across the supplied documents, so this remains a placeholder. Two team-member details are missing.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synopsis proposes summarization and clause classification. Actual contract benchmarking uses CUAD from SEC/EDGAR filings, so performance on Indian contracts is unknown. See docs/DATA_CARD.md.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Objectives follow the executed pilot, not the unexecuted full-dataset aspiration. Sources: docs/DATA_CARD.md, docs/EXPERIMENT_RESULTS.md, docs/DEMO_AND_VIVA.md.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not a novelty or priority claim. Literature survey and indexed bibliography: research/LITERATURE_REVIEW.md and reports/Final_Report.pdf. Operational dataset papers: Shukla et al. AACL 2022 for IN-Abs; The Atticus Project for CUAD.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IN-Abs: published 7,130 pairs, two empty train pairs; retained pool after grouping 5,949/1,050/100; executed pilot 64/12/20. CUAD v1: 510 published, official 408/102 split; retained 345/61/102; executed pilot 40/10/10. See docs/DATA_CARD.md and dataset URLs in final references.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Zero invalid CUAD answer offsets were found. Any-character overlap yields an 8-dimensional binary label, so a positive may include a partial clause; zero means no selected annotation, not legal safety. Training negatives capped at 3 per positive; evaluation retains all. Source: docs/DATA_CARD.md.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64 training and all 12 validation target headnotes exceeded the 128-token cap and were shortened; held-out references stayed full length. T5 cannot claim full-document comprehension. Source: docs/DATA_CARD.md.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LEGAL-BERT trained 3 epochs (723.75 s), T5-small 1 epoch (152.02 s), CPU 4 threads. Checkpoints and metrics in artifacts/pilot. No full-corpus run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Document duplicate groups are separated before splitting; exact repeated cross-split passage strings are quarantined. Approximate duplicate matching is not exhaustive. Threshold chosen on validation macro F1. See docs/DATA_CARD.md and docs/EXPERIMENT_RESULTS.md.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metrics: TF-IDF macro F1 0.385256, weighted 0.408894, accuracy 0.970050; LEGAL-BERT macro 0.447039, weighted 0.509143, accuracy 0.972130. Test rows 2404, all-zero 2340. Source: artifacts/pilot/tfidf/test/metrics.json and artifacts/pilot/legalbert/test/metrics.json (also docs/EXPERIMENT_RESULTS.md).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scores: extractive R1 0.2164466, R2 0.1200588, RL 0.1445487. T5 R1 0.1494678, R2 0.0797391, RL 0.1045632. All held-out references full length. Source: artifacts/pilot/extractive/test/metrics.json and artifacts/pilot/t5/test/metrics.json.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Classification: Exclusivity has 3 positives; Post-Termination Services 8. A reviewed test judgment (~3,542 words) showed disposition omission in a generated summary. These examples motivate source-side checks. See docs/EXPERIMENT_RESULTS.md and reports/Final_Report.pdf.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scripts/run_demo.ps1 and open localhost:8501. Existing local checkpoints are available in this workspace. Synthetic demo inputs are examples/demo_judgment.txt and examples/demo_contract.txt. The copied ZIP needs setup and retraining. See docs/DEMO_AND_VIVA.md.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characterize the pilot as validated for Indian contract review. Full-corpus configuration exists but has not been executed. Other work includes multilingual evaluation and calibrated probabilities. Source: docs/DATA_CARD.md and docs/DEMO_AND_VIVA.md.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 URLs: https://zenodo.org/records/7152317 ; https://www.atticusprojectai.org/cuad ; https://github.com/The-Atticus-Project/cuad . Paper URLs and verified bibliography metadata are in research/bibliography-ieee.txt and reports/Final_Report.pdf. Local source documents: templates/.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0d381c5441447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e5c060a7e140e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6625d6a634480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fc186d2754431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e205cdf7de450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42dc3b453b49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12CC69-9D06-403D-B685-E6F3EBD0B2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787FB48-6B5B-4C50-B3D3-57BAD6B1EA9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5BE1420-26A6-44BA-94A6-B730104354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9C5D94-0963-4C87-8CBB-27D7D2710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5B131EB-47AC-49CC-93F5-594426C0C6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497EC73-B7F4-4293-9FDB-981D11809F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F22FB07-59BC-4EE5-88E8-C68E9D9F7F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63EBB8B-A693-4A7B-AE5D-0AFBA436416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494194-5DAC-414D-92DB-5F5B1DD4E1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D9D94B1-62B2-455F-8CA4-3DBFD082C1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4349e5d228453e" /><Relationship Type="http://schemas.openxmlformats.org/officeDocument/2006/relationships/slideLayout" Target="/ppt/slideLayouts/slideLayout1.xml" Id="R046cbd967ae84df6" /><Relationship Type="http://schemas.openxmlformats.org/officeDocument/2006/relationships/slideLayout" Target="/ppt/slideLayouts/slideLayout2.xml" Id="R162df7ff4e02471e" /><Relationship Type="http://schemas.openxmlformats.org/officeDocument/2006/relationships/slideLayout" Target="/ppt/slideLayouts/slideLayout3.xml" Id="Rd085dbce9a6249ca" /><Relationship Type="http://schemas.openxmlformats.org/officeDocument/2006/relationships/slideLayout" Target="/ppt/slideLayouts/slideLayout4.xml" Id="R865361ff8ab44fe2" /><Relationship Type="http://schemas.openxmlformats.org/officeDocument/2006/relationships/slideLayout" Target="/ppt/slideLayouts/slideLayout5.xml" Id="R7860f96be5fe4e40" /><Relationship Type="http://schemas.openxmlformats.org/officeDocument/2006/relationships/slideLayout" Target="/ppt/slideLayouts/slideLayout6.xml" Id="R62973ff4f16945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6cbd967ae84df6"/>
    <p:sldLayoutId xmlns:r="http://schemas.openxmlformats.org/officeDocument/2006/relationships" id="2147483650" r:id="R162df7ff4e02471e"/>
    <p:sldLayoutId xmlns:r="http://schemas.openxmlformats.org/officeDocument/2006/relationships" id="2147483651" r:id="Rd085dbce9a6249ca"/>
    <p:sldLayoutId xmlns:r="http://schemas.openxmlformats.org/officeDocument/2006/relationships" id="2147483652" r:id="R865361ff8ab44fe2"/>
    <p:sldLayoutId xmlns:r="http://schemas.openxmlformats.org/officeDocument/2006/relationships" id="2147483653" r:id="R7860f96be5fe4e40"/>
    <p:sldLayoutId xmlns:r="http://schemas.openxmlformats.org/officeDocument/2006/relationships" id="2147483654" r:id="R62973ff4f16945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27682a15ce4dec" /><Relationship Type="http://schemas.openxmlformats.org/officeDocument/2006/relationships/image" Target="/ppt/media/image.png" Id="Rdfe32bf2ccae4cb0" /><Relationship Type="http://schemas.openxmlformats.org/officeDocument/2006/relationships/notesSlide" Target="/ppt/notesSlides/notesSlide1.xml" Id="R54c00e57a6224f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a07e36d1e244f2" /><Relationship Type="http://schemas.openxmlformats.org/officeDocument/2006/relationships/notesSlide" Target="/ppt/notesSlides/notesSlide2.xml" Id="R3ff8f66cb47c47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bab85eb4fe4f88" /><Relationship Type="http://schemas.openxmlformats.org/officeDocument/2006/relationships/notesSlide" Target="/ppt/notesSlides/notesSlide3.xml" Id="R6326863ddf154f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d65204746a4bf5" /><Relationship Type="http://schemas.openxmlformats.org/officeDocument/2006/relationships/notesSlide" Target="/ppt/notesSlides/notesSlide4.xml" Id="R72d01e1273a542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74d956da2b42c9" /><Relationship Type="http://schemas.openxmlformats.org/officeDocument/2006/relationships/notesSlide" Target="/ppt/notesSlides/notesSlide5.xml" Id="R2ab7de4ca31147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8d1c077945411e" /><Relationship Type="http://schemas.openxmlformats.org/officeDocument/2006/relationships/notesSlide" Target="/ppt/notesSlides/notesSlide6.xml" Id="Rf4792e50eda846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65d508795540db" /><Relationship Type="http://schemas.openxmlformats.org/officeDocument/2006/relationships/notesSlide" Target="/ppt/notesSlides/notesSlide7.xml" Id="Rf0605cc592834e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b50fd4d16447e2" /><Relationship Type="http://schemas.openxmlformats.org/officeDocument/2006/relationships/notesSlide" Target="/ppt/notesSlides/notesSlide8.xml" Id="R2ecf8dacca7c4f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2ef57b82e64910" /><Relationship Type="http://schemas.openxmlformats.org/officeDocument/2006/relationships/notesSlide" Target="/ppt/notesSlides/notesSlide9.xml" Id="R7e562ac01db745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c71a714ada4fce" /><Relationship Type="http://schemas.openxmlformats.org/officeDocument/2006/relationships/chart" Target="/ppt/slides/charts/chart1.xml" Id="R674d4681a42c4f02" /><Relationship Type="http://schemas.openxmlformats.org/officeDocument/2006/relationships/notesSlide" Target="/ppt/notesSlides/notesSlide10.xml" Id="R951ad1739273421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1e5884e5b64931" /><Relationship Type="http://schemas.openxmlformats.org/officeDocument/2006/relationships/chart" Target="/ppt/slides/charts/chart2.xml" Id="R52aa2ad3df844528" /><Relationship Type="http://schemas.openxmlformats.org/officeDocument/2006/relationships/notesSlide" Target="/ppt/notesSlides/notesSlide11.xml" Id="R47d2a6a44a78473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a4fc9b2543486b" /><Relationship Type="http://schemas.openxmlformats.org/officeDocument/2006/relationships/notesSlide" Target="/ppt/notesSlides/notesSlide12.xml" Id="Rd9a66b3d6b504c3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e571208b8f4638" /><Relationship Type="http://schemas.openxmlformats.org/officeDocument/2006/relationships/notesSlide" Target="/ppt/notesSlides/notesSlide13.xml" Id="R6e61b34a3a4442b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77c8c8f51c40d8" /><Relationship Type="http://schemas.openxmlformats.org/officeDocument/2006/relationships/notesSlide" Target="/ppt/notesSlides/notesSlide14.xml" Id="R8d07c2026fe8447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8aca5c17bf4a46" /><Relationship Type="http://schemas.openxmlformats.org/officeDocument/2006/relationships/notesSlide" Target="/ppt/notesSlides/notesSlide15.xml" Id="R35d91fbb8fbc47b8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rial"/>
                <a:ea typeface="Arial"/>
                <a:cs typeface="Arial"/>
              </a:rPr>
              <a:t>F1 by averaging scheme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TF-IDF</c:v>
          </c:tx>
          <c:spPr>
            <a:solidFill xmlns:a="http://schemas.openxmlformats.org/drawingml/2006/main">
              <a:srgbClr val="13757B"/>
            </a:solidFill>
          </c:spPr>
          <c:invertIfNegative val="0"/>
          <c:cat>
            <c:strLit>
              <c:ptCount val="2"/>
              <c:pt idx="0">
                <c:v>Macro F1</c:v>
              </c:pt>
              <c:pt idx="1">
                <c:v>Weighted F1</c:v>
              </c:pt>
            </c:strLit>
          </c:cat>
          <c:val>
            <c:numLit>
              <c:formatCode>General</c:formatCode>
              <c:ptCount val="2"/>
              <c:pt idx="0">
                <c:v>0.385</c:v>
              </c:pt>
              <c:pt idx="1">
                <c:v>0.409</c:v>
              </c:pt>
            </c:numLit>
          </c:val>
        </c:ser>
        <c:ser>
          <c:idx val="1"/>
          <c:order val="1"/>
          <c:tx>
            <c:v>LEGAL-BERT</c:v>
          </c:tx>
          <c:spPr>
            <a:solidFill xmlns:a="http://schemas.openxmlformats.org/drawingml/2006/main">
              <a:srgbClr val="C4512E"/>
            </a:solidFill>
          </c:spPr>
          <c:invertIfNegative val="0"/>
          <c:cat>
            <c:strLit>
              <c:ptCount val="2"/>
              <c:pt idx="0">
                <c:v>Macro F1</c:v>
              </c:pt>
              <c:pt idx="1">
                <c:v>Weighted F1</c:v>
              </c:pt>
            </c:strLit>
          </c:cat>
          <c:val>
            <c:numLit>
              <c:formatCode>General</c:formatCode>
              <c:ptCount val="2"/>
              <c:pt idx="0">
                <c:v>0.447</c:v>
              </c:pt>
              <c:pt idx="1">
                <c:v>0.509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04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noFill xmlns:a="http://schemas.openxmlformats.org/drawingml/2006/main"/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rial"/>
                <a:ea typeface="Arial"/>
                <a:cs typeface="Arial"/>
              </a:rPr>
              <a:t>ROUGE against full reference summaries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Extractive</c:v>
          </c:tx>
          <c:spPr>
            <a:solidFill xmlns:a="http://schemas.openxmlformats.org/drawingml/2006/main">
              <a:srgbClr val="13757B"/>
            </a:solidFill>
          </c:spPr>
          <c:invertIfNegative val="0"/>
          <c:cat>
            <c:strLit>
              <c:ptCount val="3"/>
              <c:pt idx="0">
                <c:v>ROUGE-1</c:v>
              </c:pt>
              <c:pt idx="1">
                <c:v>ROUGE-2</c:v>
              </c:pt>
              <c:pt idx="2">
                <c:v>ROUGE-L</c:v>
              </c:pt>
            </c:strLit>
          </c:cat>
          <c:val>
            <c:numLit>
              <c:formatCode>General</c:formatCode>
              <c:ptCount val="3"/>
              <c:pt idx="0">
                <c:v>0.216</c:v>
              </c:pt>
              <c:pt idx="1">
                <c:v>0.12</c:v>
              </c:pt>
              <c:pt idx="2">
                <c:v>0.145</c:v>
              </c:pt>
            </c:numLit>
          </c:val>
        </c:ser>
        <c:ser>
          <c:idx val="1"/>
          <c:order val="1"/>
          <c:tx>
            <c:v>T5-small</c:v>
          </c:tx>
          <c:spPr>
            <a:solidFill xmlns:a="http://schemas.openxmlformats.org/drawingml/2006/main">
              <a:srgbClr val="C4512E"/>
            </a:solidFill>
          </c:spPr>
          <c:invertIfNegative val="0"/>
          <c:cat>
            <c:strLit>
              <c:ptCount val="3"/>
              <c:pt idx="0">
                <c:v>ROUGE-1</c:v>
              </c:pt>
              <c:pt idx="1">
                <c:v>ROUGE-2</c:v>
              </c:pt>
              <c:pt idx="2">
                <c:v>ROUGE-L</c:v>
              </c:pt>
            </c:strLit>
          </c:cat>
          <c:val>
            <c:numLit>
              <c:formatCode>General</c:formatCode>
              <c:ptCount val="3"/>
              <c:pt idx="0">
                <c:v>0.149</c:v>
              </c:pt>
              <c:pt idx="1">
                <c:v>0.079</c:v>
              </c:pt>
              <c:pt idx="2">
                <c:v>0.105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8304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5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noFill xmlns:a="http://schemas.openxmlformats.org/drawingml/2006/main"/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A1B5CD-319E-46B8-ACA7-0F6AF254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12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8C27F-4DD6-433D-8843-CBC2C2BFDC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e32bf2ccae4cb0"/>
          <a:stretch xmlns:a="http://schemas.openxmlformats.org/drawingml/2006/main"/>
        </p:blipFill>
        <p:spPr>
          <a:xfrm xmlns:a="http://schemas.openxmlformats.org/drawingml/2006/main">
            <a:off x="1028700" y="363599"/>
            <a:ext cx="10134600" cy="1206376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8CA04D-B2FD-4077-8AF6-7B2F181A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71675"/>
            <a:ext cx="103822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67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AI-BASED SUMMARIZATION AND</a:t>
            </a:r>
          </a:p>
          <a:p xmlns:a="http://schemas.openxmlformats.org/drawingml/2006/main">
            <a:pPr algn="l">
              <a:defRPr sz="367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CLAUSE CLASSIFICATION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ED9D0D-AEB5-4121-B66A-B5575AD3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375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3757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3757B"/>
                </a:solidFill>
                <a:latin typeface="Arial"/>
                <a:ea typeface="Arial"/>
                <a:cs typeface="Arial"/>
              </a:rPr>
              <a:t>of legal documents using NLP and transformer models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B6A31D-E3E1-4DED-966A-4BE33ED7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62425"/>
            <a:ext cx="10439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1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050AA1-9AD8-463C-8140-0DC4454E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0075"/>
            <a:ext cx="9525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Machine Learning mini-project  •  B.Tech. CSE (AI &amp; ML)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31B31-D18A-46EC-9DDC-C7261729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67275"/>
            <a:ext cx="990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Vedant jitani  •  240962492  •  Roll 41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6FF5A7-C759-4893-A6D9-13270C40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017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Other team members: [Name / ID pending]  •  [Name / ID pending]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59972C-92D0-4E7E-9B2B-6F60189D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816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Guide: [confirm from supplied documents]  •  Academic year 2026–27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51EAE2-BB2D-47A7-B592-3BC988EC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57925"/>
            <a:ext cx="10382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PILOT EXPERIMENT  |  OCTOBER 2026</a:t>
            </a:r>
          </a:p>
        </p:txBody>
      </p:sp>
    </p:spTree>
    <p:extLst>
      <p:ext uri="{BB962C8B-B14F-4D97-AF65-F5344CB8AC3E}">
        <p14:creationId xmlns:p14="http://schemas.microsoft.com/office/powerpoint/2010/main" val="19914610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0D4A3A-875F-4B20-93C8-90BB32D3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1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CBCDB5-DE83-425F-B107-CE283A25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757B"/>
                </a:solidFill>
                <a:latin typeface="Arial"/>
                <a:ea typeface="Arial"/>
                <a:cs typeface="Arial"/>
              </a:rPr>
              <a:t>01 /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80D5B4-FC8C-47C6-BB98-066B1920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One interface, two distinct legal NLP tasks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0EC1B-4E8B-4C88-B94C-0D8DD0C3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01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The outputs support document review; they do not make legal determinations.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0C3ED8-B2D8-4648-A66B-88E6C415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024BF-F6E7-4420-8E45-5C601913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679"/>
                </a:solidFill>
                <a:latin typeface="Arial"/>
                <a:ea typeface="Arial"/>
                <a:cs typeface="Arial"/>
              </a:rPr>
              <a:t>LEGAL NLP MINI-PROJECT  •  PILOT 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8FE8AF-41F8-4D94-A010-71B00972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0E919A-E38D-44BA-9C85-2B65FAE7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19325"/>
            <a:ext cx="5267325" cy="3019425"/>
          </a:xfrm>
          <a:prstGeom xmlns:a="http://schemas.openxmlformats.org/drawingml/2006/main" prst="roundRect">
            <a:avLst>
              <a:gd name="adj" fmla="val 2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7346F6-C793-454B-ABBA-E150D650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E57002-A12D-4DE8-8C73-7B0E85CE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19350"/>
            <a:ext cx="4276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Judgment summarization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D6C193-71A3-4271-9A91-815C57CA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4810125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Indian Supreme Court judgments → concise draft summaries.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Training and evaluation: IN-Abs judgment–headnote pairs.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A337E3-0A04-4B09-A99E-A4223DA0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219325"/>
            <a:ext cx="5572125" cy="3019425"/>
          </a:xfrm>
          <a:prstGeom xmlns:a="http://schemas.openxmlformats.org/drawingml/2006/main" prst="roundRect">
            <a:avLst>
              <a:gd name="adj" fmla="val 2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8A88AD-70F6-4174-B6B4-9C1D1DEA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4193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E817D9-FE32-4FE7-B1B3-95EAC331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419350"/>
            <a:ext cx="4581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Clause classification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D990EC-D874-44A7-B2E4-D4E8AAA5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933700"/>
            <a:ext cx="5114925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Commercial contract passages → eight possible clause categories.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Training and evaluation: CUAD, a non-Indian corpus.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F42086-732C-4E6E-93DD-DCBF6974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11049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The two tasks have separate data, models and metrics. No combined “legal accuracy” is claimed.</a:t>
            </a:r>
          </a:p>
        </p:txBody>
      </p:sp>
    </p:spTree>
    <p:extLst>
      <p:ext uri="{BB962C8B-B14F-4D97-AF65-F5344CB8AC3E}">
        <p14:creationId xmlns:p14="http://schemas.microsoft.com/office/powerpoint/2010/main" val="7527785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483614-44EE-49D9-8726-64C4464D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1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D0EE28-DBE4-4CDC-931E-B349E757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757B"/>
                </a:solidFill>
                <a:latin typeface="Arial"/>
                <a:ea typeface="Arial"/>
                <a:cs typeface="Arial"/>
              </a:rPr>
              <a:t>02 / 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4941F7-6282-4154-B421-C84CA51B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Three measurable objectives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C26AC3-2FB6-42DB-83B8-E1C8BD46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5A5E89-424A-43FD-896B-BA058DAB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679"/>
                </a:solidFill>
                <a:latin typeface="Arial"/>
                <a:ea typeface="Arial"/>
                <a:cs typeface="Arial"/>
              </a:rPr>
              <a:t>LEGAL NLP MINI-PROJECT  •  PILOT RESULTS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82BB0E-0AA3-4AF7-91A0-B028BA87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6DF22A-CA20-463F-8C29-8AE21FE5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05025"/>
            <a:ext cx="3524250" cy="33147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1DBFFC-4FAA-463C-9FD0-3FD72F71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951059-3818-49EB-9D19-B533CE3B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05050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Prepare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4EC9A6-46D6-4DA1-9E3D-F19DDC13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3067050" cy="2409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Acquire public corpora; verify spans and metadata; split by document; prevent duplicate leakage.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609BFF-AECC-4452-A5E0-849B8DF1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05025"/>
            <a:ext cx="3524250" cy="33147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08ED75-463F-4CB5-ADC8-35E302BC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3050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A2E342-6A90-48B3-9A57-06B9E515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305050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Compare models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7E33B0-0A4C-48F1-AF96-FC8932CD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819400"/>
            <a:ext cx="3067050" cy="2409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Benchmark TF-IDF models against fine-tuned LEGAL-BERT and T5-small on the same held-out subsets.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034F1F-F357-4A41-B288-41410815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05025"/>
            <a:ext cx="3524250" cy="33147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9FAC04-AD71-4217-B865-50232BB6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050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7C41A8-394D-4098-AB97-C4D40D26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05050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Deliver a demo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765859-338E-4250-A584-CC35E441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19400"/>
            <a:ext cx="3067050" cy="2409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Accept searchable PDF, DOCX or TXT; show summaries or clause labels; export the output.</a:t>
            </a:r>
          </a:p>
        </p:txBody>
      </p:sp>
    </p:spTree>
    <p:extLst>
      <p:ext uri="{BB962C8B-B14F-4D97-AF65-F5344CB8AC3E}">
        <p14:creationId xmlns:p14="http://schemas.microsoft.com/office/powerpoint/2010/main" val="8294576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C0E8C5-61CC-4613-82BF-EBE79360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1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CC3B04-E4AE-48F5-A198-C0AF25B4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757B"/>
                </a:solidFill>
                <a:latin typeface="Arial"/>
                <a:ea typeface="Arial"/>
                <a:cs typeface="Arial"/>
              </a:rPr>
              <a:t>03 / PRIOR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DB30B-0A1E-4D3D-81D9-8EEA5AC5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Research basis and project gap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9A10A4-8CDC-4317-B700-0386FD9A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01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Domain-specific legal language models help, but results depend on corpus and evaluation setting.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59950B-123A-444C-9E18-F1290334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833C6F-DD7E-4E1C-ABA4-CA1D9F4D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679"/>
                </a:solidFill>
                <a:latin typeface="Arial"/>
                <a:ea typeface="Arial"/>
                <a:cs typeface="Arial"/>
              </a:rPr>
              <a:t>LEGAL NLP MINI-PROJECT  •  PILOT 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703014-FFDD-4AC4-B759-CD624B15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83AF6F-1A0F-4BB6-98EC-E0287F35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3305175"/>
          </a:xfrm>
          <a:prstGeom xmlns:a="http://schemas.openxmlformats.org/drawingml/2006/main" prst="roundRect">
            <a:avLst>
              <a:gd name="adj" fmla="val 23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C7B9C1-B46E-400E-B63A-DD09B601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717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757B"/>
                </a:solidFill>
                <a:latin typeface="Arial"/>
                <a:ea typeface="Arial"/>
                <a:cs typeface="Arial"/>
              </a:rPr>
              <a:t>Legal-domain encoders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1D527F-53EB-44BA-A235-8E6A4BD4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45910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Use contextual representations for specialist vocabulary and long-form legal structure.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AFA893-BADB-4368-8E1E-CB516571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717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757B"/>
                </a:solidFill>
                <a:latin typeface="Arial"/>
                <a:ea typeface="Arial"/>
                <a:cs typeface="Arial"/>
              </a:rPr>
              <a:t>Judgment summarization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027E4-524D-43FD-8BC6-A0A0C03E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38450"/>
            <a:ext cx="4572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Indian case summaries demand outcome coverage, not only lexical overlap.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F011B3-D54F-41A1-8B0B-7585717E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62200"/>
            <a:ext cx="9525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C8316C-36A0-4240-9153-6E56FD94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Project gap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CD5A9B-E3C3-43CF-B206-EBFAE94F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10239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A reproducible, local comparison across both tasks, with visible baselines, data provenance and failure analysis.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BA059A-6DBC-4E7B-B3DC-623C898E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Selected literature and dataset citations are on the final slide; full 20-item journal survey is in the report.</a:t>
            </a:r>
          </a:p>
        </p:txBody>
      </p:sp>
    </p:spTree>
    <p:extLst>
      <p:ext uri="{BB962C8B-B14F-4D97-AF65-F5344CB8AC3E}">
        <p14:creationId xmlns:p14="http://schemas.microsoft.com/office/powerpoint/2010/main" val="931208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B7F98B-83D7-4F59-A224-0C3A7F11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1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0DC12-27B7-4B5C-A8E1-01A74AB3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757B"/>
                </a:solidFill>
                <a:latin typeface="Arial"/>
                <a:ea typeface="Arial"/>
                <a:cs typeface="Arial"/>
              </a:rPr>
              <a:t>04 /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2307A-9E5A-4CAF-877C-C4A5793B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Two public corpora, different jurisdictions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EE84DD-0DCC-4043-A58D-2BE54EF1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01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Published corpus sizes and executed pilot sizes are stated separately.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B67383-D795-462C-8A05-2493E271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2284EC-F9F2-4FB0-B451-ECAFDCCD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679"/>
                </a:solidFill>
                <a:latin typeface="Arial"/>
                <a:ea typeface="Arial"/>
                <a:cs typeface="Arial"/>
              </a:rPr>
              <a:t>LEGAL NLP MINI-PROJECT  •  PILOT 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2112E-E254-413A-9CCE-E3336138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3C4097-501C-4833-86BC-9856641E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24075"/>
            <a:ext cx="11087100" cy="3409950"/>
          </a:xfrm>
          <a:prstGeom xmlns:a="http://schemas.openxmlformats.org/drawingml/2006/main" prst="roundRect">
            <a:avLst>
              <a:gd name="adj" fmla="val 2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87D1E5-D350-4E6E-9B01-45817582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95525"/>
            <a:ext cx="2638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757B"/>
                </a:solidFill>
                <a:latin typeface="Arial"/>
                <a:ea typeface="Arial"/>
                <a:cs typeface="Arial"/>
              </a:rPr>
              <a:t>DATASET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9B5CF1-6748-4AEA-8CB1-22BD6912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95525"/>
            <a:ext cx="2066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757B"/>
                </a:solidFill>
                <a:latin typeface="Arial"/>
                <a:ea typeface="Arial"/>
                <a:cs typeface="Arial"/>
              </a:rPr>
              <a:t>PUBLISHED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640ECA-0962-4FA3-862E-CB0FB1A8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955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757B"/>
                </a:solidFill>
                <a:latin typeface="Arial"/>
                <a:ea typeface="Arial"/>
                <a:cs typeface="Arial"/>
              </a:rPr>
              <a:t>RETAINED POOL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BF62D4-5162-4BF9-89AB-F99FE41B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955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757B"/>
                </a:solidFill>
                <a:latin typeface="Arial"/>
                <a:ea typeface="Arial"/>
                <a:cs typeface="Arial"/>
              </a:rPr>
              <a:t>PILOT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9B2685-44A4-4673-B1BC-B9C66646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10563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06D495-471F-4038-AC62-9DF26062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43225"/>
            <a:ext cx="25241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IN-Abs</a:t>
            </a:r>
          </a:p>
          <a:p xmlns:a="http://schemas.openxmlformats.org/drawingml/2006/main">
            <a:pPr algn="l">
              <a:defRPr sz="18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Indian judgments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60C684-AB00-4FB0-B3D3-3780EE8F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43225"/>
            <a:ext cx="22669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7,130 pairs</a:t>
            </a:r>
          </a:p>
          <a:p xmlns:a="http://schemas.openxmlformats.org/drawingml/2006/main">
            <a:pPr algn="l">
              <a:defRPr sz="180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7,128 usable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73BB1D-9990-4474-AAE3-F1192944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43225"/>
            <a:ext cx="2476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5,949 / 1,050 / 100</a:t>
            </a:r>
          </a:p>
          <a:p xmlns:a="http://schemas.openxmlformats.org/drawingml/2006/main">
            <a:pPr algn="l">
              <a:defRPr sz="172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train / val /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44D300-EBD6-42E2-ABF9-CF4DB613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43225"/>
            <a:ext cx="2381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64 / 12 / 20</a:t>
            </a:r>
          </a:p>
          <a:p xmlns:a="http://schemas.openxmlformats.org/drawingml/2006/main">
            <a:pPr algn="l">
              <a:defRPr sz="17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judgment pairs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6F3954-4A79-4174-984C-D7CC6EE6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10563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C112E9-DDBA-4007-990C-23625038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257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CUAD v1</a:t>
            </a:r>
          </a:p>
          <a:p xmlns:a="http://schemas.openxmlformats.org/drawingml/2006/main">
            <a:pPr algn="l">
              <a:defRPr sz="18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Commercial contracts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AC8236-4370-4185-8834-C8470858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71950"/>
            <a:ext cx="2266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510 contracts</a:t>
            </a:r>
          </a:p>
          <a:p xmlns:a="http://schemas.openxmlformats.org/drawingml/2006/main">
            <a:pPr algn="l">
              <a:defRPr sz="172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41 source categories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85C685-E832-463D-BEA1-38FB317D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345 / 61 / 102</a:t>
            </a:r>
          </a:p>
          <a:p xmlns:a="http://schemas.openxmlformats.org/drawingml/2006/main">
            <a:pPr algn="l">
              <a:defRPr sz="172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train / val / 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4CB63F-3555-4915-A33B-0FB22B26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7195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40 / 10 / 10</a:t>
            </a:r>
          </a:p>
          <a:p xmlns:a="http://schemas.openxmlformats.org/drawingml/2006/main">
            <a:pPr algn="l">
              <a:defRPr sz="17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contracts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4111A3-DD71-4E25-B2AA-FD6C05B9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24525"/>
            <a:ext cx="1104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CUAD is not an Indian contract benchmark.</a:t>
            </a:r>
          </a:p>
        </p:txBody>
      </p:sp>
    </p:spTree>
    <p:extLst>
      <p:ext uri="{BB962C8B-B14F-4D97-AF65-F5344CB8AC3E}">
        <p14:creationId xmlns:p14="http://schemas.microsoft.com/office/powerpoint/2010/main" val="12805690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96F03C-C62B-48A6-A8FE-0C33CABA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1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F1E48-5982-48D8-95E7-60FE26A7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757B"/>
                </a:solidFill>
                <a:latin typeface="Arial"/>
                <a:ea typeface="Arial"/>
                <a:cs typeface="Arial"/>
              </a:rPr>
              <a:t>05 / DATA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568B36-F7D6-4427-B3DF-A35B6A8A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How CUAD becomes multi-label classification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A33C56-1AF9-4645-890E-19C890AB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01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Verified answer spans are projected onto bounded passages; this is weak labeling.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04226-2970-4136-97CB-B265547C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270A8C-359C-4D4F-AEB5-95D27FC4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679"/>
                </a:solidFill>
                <a:latin typeface="Arial"/>
                <a:ea typeface="Arial"/>
                <a:cs typeface="Arial"/>
              </a:rPr>
              <a:t>LEGAL NLP MINI-PROJECT  •  PILOT 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24F8E3-D409-4BE0-B571-F14C76D5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5EC7A0-E6DF-48DF-9F71-71B8118F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43125"/>
            <a:ext cx="3429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79A3D0-9136-4B2D-938E-5A6D8697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1EC5CA-4D44-4F09-8234-7B287E4B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Verify source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3CE299-255C-48F3-8E0D-8DF5D90B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29718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Reconstruct 510 contracts and check every answer offset against untouched 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C5DE01-6640-4758-BB34-47D7467D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143125"/>
            <a:ext cx="3429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9EEA62-E93B-4DD3-9C32-5F8029B7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3431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546DD8-5680-489B-9671-9CC7B2B9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343150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Split + segment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26D053-DF2A-41D6-ACA2-7DA29254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57500"/>
            <a:ext cx="29718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Group near duplicates, reserve official test, then create ≤256-token passages.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CA2009-EA86-497D-9233-81D7F804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43125"/>
            <a:ext cx="34480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556B27-A7E0-4C8C-BA7B-33679FEC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431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F1FD7F-C9DC-448D-AD14-BC36E2A6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43150"/>
            <a:ext cx="245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Apply labels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F0AA5B-032F-4060-B32A-17DA0C43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57500"/>
            <a:ext cx="29908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Mark any passage overlapping an answer span; allow multiple of eight labels.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5862D9-8551-4068-98FA-789934CD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24475"/>
            <a:ext cx="110871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Eight labels: Governing Law · Non-Compete · Exclusivity · Anti-Assignment · Termination for Convenience · Cap on Liability · Audit Rights · Post-Termination Services</a:t>
            </a:r>
          </a:p>
        </p:txBody>
      </p:sp>
    </p:spTree>
    <p:extLst>
      <p:ext uri="{BB962C8B-B14F-4D97-AF65-F5344CB8AC3E}">
        <p14:creationId xmlns:p14="http://schemas.microsoft.com/office/powerpoint/2010/main" val="9134630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690787-B81F-49A6-94AB-5C3C3EDE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1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87C6D8-BDFB-45C9-A122-625A5166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757B"/>
                </a:solidFill>
                <a:latin typeface="Arial"/>
                <a:ea typeface="Arial"/>
                <a:cs typeface="Arial"/>
              </a:rPr>
              <a:t>06 /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01D07-F980-4AB0-86BF-7E729FD9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Long judgment handling is an explicit trade-off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3DCA2-972C-42A3-8949-EDCF96F8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01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A complete judgment is read for selection, but only selected text enters T5-small.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5B6C6E-00AB-4707-BEA6-74EACC1D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982AF-D245-4E86-A881-F032BC20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679"/>
                </a:solidFill>
                <a:latin typeface="Arial"/>
                <a:ea typeface="Arial"/>
                <a:cs typeface="Arial"/>
              </a:rPr>
              <a:t>LEGAL NLP MINI-PROJECT  •  PILOT 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1513B-6390-4307-B1A0-40A114A1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E1A21F-5B95-4FBD-8659-2975AD9B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24075"/>
            <a:ext cx="3429000" cy="3095625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122708-2D80-46F9-8B76-085E592F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B342B3-87DB-4CF6-A932-EF1DCCF1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24100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Read + segment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386470-A028-45A5-9F09-A6776F65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29718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Extract searchable text from PDF, DOCX or TXT; preserve names, citations and negation.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2CA585-D8CD-49F9-82DB-BF04681A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124075"/>
            <a:ext cx="3429000" cy="3095625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293E1C-D3BC-4B83-97F0-2E181A39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3241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26D7E5-488E-4089-B2EC-9D10395D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324100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Select units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0F4E7D-DD91-4D4D-95F9-58D3778B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38450"/>
            <a:ext cx="29718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TF-IDF relevance + redundancy control; restore source order under a token budget.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52DC58-9F15-4638-B255-081ABFFE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24075"/>
            <a:ext cx="3448050" cy="3095625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0B34ED-4DD6-4FB0-BD65-52D58A47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241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966545-79B8-4D93-9CCD-08E82321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24100"/>
            <a:ext cx="245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Summarize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104F2E-E069-4A74-B517-1E2EBA3C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38450"/>
            <a:ext cx="29908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Compare an extractive baseline with one-epoch fine-tuned T5-small.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3FB955-6442-48F1-B8C9-A801228C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00675"/>
            <a:ext cx="110871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C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268E6A-6D13-4CAF-9E56-71D4F3D9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10725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Pilot cap: 512 selected input tokens → 128 output tokens. Mean selected training-source coverage: 16%.</a:t>
            </a:r>
          </a:p>
        </p:txBody>
      </p:sp>
    </p:spTree>
    <p:extLst>
      <p:ext uri="{BB962C8B-B14F-4D97-AF65-F5344CB8AC3E}">
        <p14:creationId xmlns:p14="http://schemas.microsoft.com/office/powerpoint/2010/main" val="5766696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E43E44-1A64-40A4-A44F-1ABBB96F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1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7F7EF-2076-4834-8CD0-7C46F5AA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757B"/>
                </a:solidFill>
                <a:latin typeface="Arial"/>
                <a:ea typeface="Arial"/>
                <a:cs typeface="Arial"/>
              </a:rPr>
              <a:t>07 /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322C4-6015-4C38-A021-5789558E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Actual models and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C3C1F3-5B91-483D-AE11-6240EB8F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01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Baselines remain essential because the fine-tuned models are trained on small pilot samples.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7F2DD-3EEB-4DA4-8194-D937E88A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DE4AB5-931F-48E7-9101-C17E390A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679"/>
                </a:solidFill>
                <a:latin typeface="Arial"/>
                <a:ea typeface="Arial"/>
                <a:cs typeface="Arial"/>
              </a:rPr>
              <a:t>LEGAL NLP MINI-PROJECT  •  PILOT 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B7078F-5537-4DE6-9036-15C689AD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893C97-3F50-45E8-AD0C-D3E6C7A2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110871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994FC9-1751-44D2-AB99-6027961D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764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757B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62A04E-3991-4745-A1B2-7C98E605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764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757B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02B045-36E9-4DF7-971F-2F29E763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7647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757B"/>
                </a:solidFill>
                <a:latin typeface="Arial"/>
                <a:ea typeface="Arial"/>
                <a:cs typeface="Arial"/>
              </a:rPr>
              <a:t>FINE-TUNED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DD4C77-8972-4E0D-A254-C638F3DA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053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3E36C5-D2FC-4440-B54C-ECA8F675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24175"/>
            <a:ext cx="2390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Clause labeling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DACE14-1E01-4D62-8D19-0DEA8E13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14650"/>
            <a:ext cx="300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TF-IDF + 8 one-vs-rest</a:t>
            </a:r>
          </a:p>
          <a:p xmlns:a="http://schemas.openxmlformats.org/drawingml/2006/main">
            <a:pPr algn="l">
              <a:defRPr sz="15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logistic regressions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94A67E-BCBA-490D-BEE1-0EEA8CF2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14650"/>
            <a:ext cx="44672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LEGAL-BERT + eight sigmoid outputs</a:t>
            </a:r>
          </a:p>
          <a:p xmlns:a="http://schemas.openxmlformats.org/drawingml/2006/main">
            <a:pPr algn="l">
              <a:defRPr sz="15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3 epochs · 1,636 train passages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75F7F6-7F62-41D7-B008-C3A542B5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1053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6323D8-50ED-40AA-A00D-991AE97B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86225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Judgment summary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A7484E-D199-4BE3-BC91-BB7F91DF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76700"/>
            <a:ext cx="3000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TF-IDF / MMR extractive</a:t>
            </a:r>
          </a:p>
          <a:p xmlns:a="http://schemas.openxmlformats.org/drawingml/2006/main">
            <a:pPr algn="l">
              <a:defRPr sz="15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selection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A7EA22-4BA0-4B25-A46F-D7289330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76700"/>
            <a:ext cx="44672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T5-small encoder–decoder</a:t>
            </a:r>
          </a:p>
          <a:p xmlns:a="http://schemas.openxmlformats.org/drawingml/2006/main">
            <a:pPr algn="l">
              <a:defRPr sz="15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1 epoch · 64 train pairs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050399-783E-40A1-B3AE-96BA3646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67375"/>
            <a:ext cx="1108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Runs were CPU-only. Model weights, predictions and metrics are stored locally.</a:t>
            </a:r>
          </a:p>
        </p:txBody>
      </p:sp>
    </p:spTree>
    <p:extLst>
      <p:ext uri="{BB962C8B-B14F-4D97-AF65-F5344CB8AC3E}">
        <p14:creationId xmlns:p14="http://schemas.microsoft.com/office/powerpoint/2010/main" val="10894583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0E6FF0-5099-4ED2-A77A-A4BB70DF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1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E6963-9D76-46FF-93B9-56057F81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757B"/>
                </a:solidFill>
                <a:latin typeface="Arial"/>
                <a:ea typeface="Arial"/>
                <a:cs typeface="Arial"/>
              </a:rPr>
              <a:t>08 /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76616D-631B-43D8-923F-083CB346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Held-out evaluation and leakage control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73A8-87FF-458C-AC9A-1312DEBA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01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Document-level partitions precede passage creation; test data are not used to choose thresholds.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94E75E-83A0-49B1-8E23-465EC296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5B76D2-BEDE-4CDF-86AE-1C0999F8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679"/>
                </a:solidFill>
                <a:latin typeface="Arial"/>
                <a:ea typeface="Arial"/>
                <a:cs typeface="Arial"/>
              </a:rPr>
              <a:t>LEGAL NLP MINI-PROJECT  •  PILOT 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75E023-7708-4869-93DC-CD221F02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D5F234-03D2-4E2B-A010-1C10DDF0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62175"/>
            <a:ext cx="5286375" cy="3171825"/>
          </a:xfrm>
          <a:prstGeom xmlns:a="http://schemas.openxmlformats.org/drawingml/2006/main" prst="roundRect">
            <a:avLst>
              <a:gd name="adj" fmla="val 24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D43798-F8D8-4A3A-89ED-45B52198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9AA182-4A0A-4508-A1FE-4425E738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4295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Classification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7DBDB2-B5DE-4725-B5EE-E7AFB72E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482917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10 held-out CUAD contracts → 2,404 passages. Report macro / weighted F1 and exact multi-label subset accuracy.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CF517F-2421-40F8-B901-8D890A83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162175"/>
            <a:ext cx="5553075" cy="3171825"/>
          </a:xfrm>
          <a:prstGeom xmlns:a="http://schemas.openxmlformats.org/drawingml/2006/main" prst="roundRect">
            <a:avLst>
              <a:gd name="adj" fmla="val 24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1CC1C4-2EB7-449D-82A5-A2F84BAE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3622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FAD104-D473-4839-B6FA-2F333294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362200"/>
            <a:ext cx="456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Summarization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2B88EC-2A0D-4164-B0B1-36413FD6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76550"/>
            <a:ext cx="509587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20 held-out Indian judgments. Report ROUGE-1 / ROUGE-2 / ROUGE-L versus full reference headnotes.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20EDC1-C01C-44C2-A2F6-B25AE80A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0"/>
            <a:ext cx="11087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2,340 of 2,404 classifier test passages have none of the eight selected labels; accuracy alone is misleading.</a:t>
            </a:r>
          </a:p>
        </p:txBody>
      </p:sp>
    </p:spTree>
    <p:extLst>
      <p:ext uri="{BB962C8B-B14F-4D97-AF65-F5344CB8AC3E}">
        <p14:creationId xmlns:p14="http://schemas.microsoft.com/office/powerpoint/2010/main" val="13331418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BBECFD-2E84-4E36-8462-E4CD3304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1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15ACA6-2D7C-488F-B769-9FFB3BCF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757B"/>
                </a:solidFill>
                <a:latin typeface="Arial"/>
                <a:ea typeface="Arial"/>
                <a:cs typeface="Arial"/>
              </a:rPr>
              <a:t>09 /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E1678-5920-48DE-815A-30F6F040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Clause classification: macro F1 improves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B841CE-E6F9-4BE6-AFFC-220FC41F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01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Same 2,404 held-out passages from 10 non-Indian CUAD contracts; scores 0–1.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F64CFA-3A6D-487E-9D81-EB9DEC91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4C7D2D-CE91-4E49-A89C-DF2862F0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679"/>
                </a:solidFill>
                <a:latin typeface="Arial"/>
                <a:ea typeface="Arial"/>
                <a:cs typeface="Arial"/>
              </a:rPr>
              <a:t>LEGAL NLP MINI-PROJECT  •  PILOT 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6366D8-EEDE-48B8-A33D-F2BE7652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7670101C-180F-412A-91AD-63DCF400BF14}"/>
              </a:ext>
            </a:extLst>
          </p:cNvPr>
          <p:cNvGraphicFramePr/>
          <p:nvPr/>
        </p:nvGraphicFramePr>
        <p:xfrm>
          <a:off xmlns:a="http://schemas.openxmlformats.org/drawingml/2006/main" x="704850" y="2057400"/>
          <a:ext xmlns:a="http://schemas.openxmlformats.org/drawingml/2006/main" cx="7534275" cy="3409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74d4681a42c4f02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AE6063-D158-484D-9B5D-A344F5DD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57425"/>
            <a:ext cx="308610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E0D6E7-D02C-4B3A-9464-6AAAF48B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571750"/>
            <a:ext cx="26003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+0.062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57CF82-E75E-4E1D-ACAA-4468F4F6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286125"/>
            <a:ext cx="25812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macro F1 vs. baseline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0EE1EB-0118-4F4D-A192-9E0AD6FA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971925"/>
            <a:ext cx="25527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Subset accuracy: 0.970 → 0.972; always-zero prediction would score 0.973 because negatives dominate.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99B6D4-4C33-4499-82C0-6E9BAD41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38800"/>
            <a:ext cx="11087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Rare classes remain weak; Exclusivity has only 3 positive test passages.</a:t>
            </a:r>
          </a:p>
        </p:txBody>
      </p:sp>
    </p:spTree>
    <p:extLst>
      <p:ext uri="{BB962C8B-B14F-4D97-AF65-F5344CB8AC3E}">
        <p14:creationId xmlns:p14="http://schemas.microsoft.com/office/powerpoint/2010/main" val="13445667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277577-4442-455B-9ED3-C53D786E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1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E87AED-56E9-4D54-846F-F84356E5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757B"/>
                </a:solidFill>
                <a:latin typeface="Arial"/>
                <a:ea typeface="Arial"/>
                <a:cs typeface="Arial"/>
              </a:rPr>
              <a:t>10 /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8D5BCF-8B36-424B-BA57-298A0A55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Summary baseline beats pilot T5-small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8A142-345B-4CE5-8BB0-C5BBD041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01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Held-out IN-Abs test: 20 Indian judgment–headnote pairs; ROUGE scores 0–1.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5741F6-963B-4D2E-A46C-94DF4A71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568735-1407-4A03-81BF-E62898D6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679"/>
                </a:solidFill>
                <a:latin typeface="Arial"/>
                <a:ea typeface="Arial"/>
                <a:cs typeface="Arial"/>
              </a:rPr>
              <a:t>LEGAL NLP MINI-PROJECT  •  PILOT 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76309E-2AE4-4BC0-BF8F-F80CA200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A822CA54-DBB1-4B6E-8F08-C37E3184A3D5}"/>
              </a:ext>
            </a:extLst>
          </p:cNvPr>
          <p:cNvGraphicFramePr/>
          <p:nvPr/>
        </p:nvGraphicFramePr>
        <p:xfrm>
          <a:off xmlns:a="http://schemas.openxmlformats.org/drawingml/2006/main" x="704850" y="2057400"/>
          <a:ext xmlns:a="http://schemas.openxmlformats.org/drawingml/2006/main" cx="7572375" cy="34194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2aa2ad3df844528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DFCAF2-723B-4D55-9832-5017A95E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266950"/>
            <a:ext cx="3076575" cy="3076575"/>
          </a:xfrm>
          <a:prstGeom xmlns:a="http://schemas.openxmlformats.org/drawingml/2006/main" prst="roundRect">
            <a:avLst>
              <a:gd name="adj" fmla="val 2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944FAC-AD85-410C-8EB6-0304AF83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562225"/>
            <a:ext cx="2609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Why?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6F16BA-9016-475C-8FC8-7325F35C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171825"/>
            <a:ext cx="2581275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Only 64 training pairs and 1 epoch. The 512-token selected input covered roughly 16% of training source text on average.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6E5236-1792-4574-AA39-E8268FBE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48325"/>
            <a:ext cx="11087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Lexical overlap is not a legal-faithfulness test; disposition must be checked against the source.</a:t>
            </a:r>
          </a:p>
        </p:txBody>
      </p:sp>
    </p:spTree>
    <p:extLst>
      <p:ext uri="{BB962C8B-B14F-4D97-AF65-F5344CB8AC3E}">
        <p14:creationId xmlns:p14="http://schemas.microsoft.com/office/powerpoint/2010/main" val="5116904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30630E-177B-4F98-93DD-F98A5C7D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1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AA5823-E57E-4534-A061-5B041C43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757B"/>
                </a:solidFill>
                <a:latin typeface="Arial"/>
                <a:ea typeface="Arial"/>
                <a:cs typeface="Arial"/>
              </a:rPr>
              <a:t>11 /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6C8639-C110-494D-A62A-5B71D324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Failure analysis: what the scores conceal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A6C50E-C4CA-4C0B-A875-ED3379A6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01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Interpretation should follow error cases, not only aggregate averages.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AB4B6-B5D1-4773-AA3B-CF819969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EBA3BF-80A2-4649-8D2A-DEFEA027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679"/>
                </a:solidFill>
                <a:latin typeface="Arial"/>
                <a:ea typeface="Arial"/>
                <a:cs typeface="Arial"/>
              </a:rPr>
              <a:t>LEGAL NLP MINI-PROJECT  •  PILOT 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B92F55-FDCA-47DB-A3F1-7DEC0D47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5046E2-46DF-41D4-A212-E7277577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5975"/>
            <a:ext cx="52578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07A131-351A-41C7-8388-85E34261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9C25E2-CBE2-4506-977F-A77DF8AF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86000"/>
            <a:ext cx="426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Rare clause labels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3DB7C5-C520-42B5-A5E8-A5AEF831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48006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Three categories have small positive support. The transformer misses some instances and creates false positives.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461449-43F7-4A4D-8927-A963AA66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85975"/>
            <a:ext cx="5562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411BC6-DDBD-4188-8FD4-FAF1CFB7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860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75AC16-3826-4404-B1F4-F41440D3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860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Judgment outcomes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6D36B9-C69B-495C-BDD0-184B6C06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00350"/>
            <a:ext cx="51054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Source selection can omit the final order. Fluent short text can miss the legal disposition or a key qualification.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158E4E-8DD8-4E68-A31D-7BDDF714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53075"/>
            <a:ext cx="11087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The app exposes source text, selected units and outputs so users can verify them.</a:t>
            </a:r>
          </a:p>
        </p:txBody>
      </p:sp>
    </p:spTree>
    <p:extLst>
      <p:ext uri="{BB962C8B-B14F-4D97-AF65-F5344CB8AC3E}">
        <p14:creationId xmlns:p14="http://schemas.microsoft.com/office/powerpoint/2010/main" val="213977277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32080B-0B25-4ECC-A4E9-54A0AC0E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1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8BD53D-AF61-421A-AE59-891DF903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757B"/>
                </a:solidFill>
                <a:latin typeface="Arial"/>
                <a:ea typeface="Arial"/>
                <a:cs typeface="Arial"/>
              </a:rPr>
              <a:t>12 /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C9A7C-8F5D-45EC-82BA-FB910FAB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Five-minute local demonstration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327A6-A06D-40E1-809C-0D318764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01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The sample texts demonstrate the interface, not benchmark performance.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5F6A8-F427-4491-A7AC-4247FD7E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486E8F-884C-46E0-9B18-47AB0F78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679"/>
                </a:solidFill>
                <a:latin typeface="Arial"/>
                <a:ea typeface="Arial"/>
                <a:cs typeface="Arial"/>
              </a:rPr>
              <a:t>LEGAL NLP MINI-PROJECT  •  PILOT 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710B2-9527-4E57-802D-54EB1275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5E56B2-8709-46D2-AE59-F075D2FE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66925"/>
            <a:ext cx="342900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BA281A-3C82-4AB7-806F-B391A4C6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2796FB-FF38-438C-A629-CA97965D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66950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Summarize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72A031-7B5B-4B6C-B423-38A18489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2971800" cy="2371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Paste a synthetic judgment; compare extractive and T5 outputs; inspect retained source coverage.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6F1C83-27FA-47C2-B505-B90D7902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066925"/>
            <a:ext cx="342900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CDAA71-E649-49FD-9588-ECC99FF6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669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CA0282-3BD7-45AC-9326-BE2C95F6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266950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Classify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32BD05-DA20-4087-A35C-630BCE35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81300"/>
            <a:ext cx="2971800" cy="2371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Paste a synthetic contract; compare TF-IDF and LEGAL-BERT labels and scores.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9F7AE1-1940-42E6-AF86-B6DD230F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66925"/>
            <a:ext cx="344805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813551-97BD-44F7-BF19-F252C3D6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B075CC-D824-41A2-841B-5ECB893D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66950"/>
            <a:ext cx="245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Export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80D768-A604-4132-95E6-918CB54C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81300"/>
            <a:ext cx="2990850" cy="2371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Save TXT / JSON summary or CSV / JSON clauses; open the report and saved metric JSONs.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D0ED1E-C32B-408A-8DA9-E6B9A77C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91175"/>
            <a:ext cx="11087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Input: searchable PDF, DOCX, TXT. Scanned PDFs need OCR outside this app.</a:t>
            </a:r>
          </a:p>
        </p:txBody>
      </p:sp>
    </p:spTree>
    <p:extLst>
      <p:ext uri="{BB962C8B-B14F-4D97-AF65-F5344CB8AC3E}">
        <p14:creationId xmlns:p14="http://schemas.microsoft.com/office/powerpoint/2010/main" val="4577336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A5DFB5-08B8-4F1F-816B-493BFA48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1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732907-5AD2-4953-A17D-DA4270D7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757B"/>
                </a:solidFill>
                <a:latin typeface="Arial"/>
                <a:ea typeface="Arial"/>
                <a:cs typeface="Arial"/>
              </a:rPr>
              <a:t>13 / 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0BEBA-C228-4F75-847F-A99AECAD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What this pilot establishes — and what comes next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21E407-3849-4983-A145-8649A117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01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A transparent baseline-to-transformer comparison is possible on a modest local machine.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96B311-043E-4447-A496-EA303B96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F54D54-CCBE-4728-9CC0-7A7A1EF7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679"/>
                </a:solidFill>
                <a:latin typeface="Arial"/>
                <a:ea typeface="Arial"/>
                <a:cs typeface="Arial"/>
              </a:rPr>
              <a:t>LEGAL NLP MINI-PROJECT  •  PILOT 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38E4B5-9401-4060-8039-5C6AFEFB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89ECB6-E48D-4526-A176-F52FB208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5975"/>
            <a:ext cx="5286375" cy="3362325"/>
          </a:xfrm>
          <a:prstGeom xmlns:a="http://schemas.openxmlformats.org/drawingml/2006/main" prst="roundRect">
            <a:avLst>
              <a:gd name="adj" fmla="val 2266"/>
            </a:avLst>
          </a:prstGeom>
          <a:solidFill xmlns:a="http://schemas.openxmlformats.org/drawingml/2006/main">
            <a:srgbClr val="E7F0EF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4F9AF3-E940-4550-8B82-B58387A8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33625"/>
            <a:ext cx="4714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757B"/>
                </a:solidFill>
                <a:latin typeface="Arial"/>
                <a:ea typeface="Arial"/>
                <a:cs typeface="Arial"/>
              </a:rPr>
              <a:t>Established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869DE2-1FA3-45B9-BC82-95E2E3C3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43225"/>
            <a:ext cx="47434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• Reproducible preprocessing and held-out splits</a:t>
            </a:r>
          </a:p>
          <a:p xmlns:a="http://schemas.openxmlformats.org/drawingml/2006/main">
            <a:pPr algn="l">
              <a:defRPr sz="15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• Genuine LEGAL-BERT and T5 fine-tuning</a:t>
            </a:r>
          </a:p>
          <a:p xmlns:a="http://schemas.openxmlformats.org/drawingml/2006/main">
            <a:pPr algn="l">
              <a:defRPr sz="15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• Working local demo and export</a:t>
            </a:r>
          </a:p>
          <a:p xmlns:a="http://schemas.openxmlformats.org/drawingml/2006/main">
            <a:pPr algn="l">
              <a:defRPr sz="15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• Baselines expose mixed outcomes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7B3B02-E2DF-4F40-AA5F-F998857A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085975"/>
            <a:ext cx="5553075" cy="3362325"/>
          </a:xfrm>
          <a:prstGeom xmlns:a="http://schemas.openxmlformats.org/drawingml/2006/main" prst="roundRect">
            <a:avLst>
              <a:gd name="adj" fmla="val 2266"/>
            </a:avLst>
          </a:prstGeom>
          <a:solidFill xmlns:a="http://schemas.openxmlformats.org/drawingml/2006/main">
            <a:srgbClr val="FAECE6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0D4AD2-CAB4-43E7-B454-8BA60DE9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33625"/>
            <a:ext cx="495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Next 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65323F-9128-4664-8DB2-EBD72E69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43225"/>
            <a:ext cx="4981575" cy="2200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• Full-corpus experiments</a:t>
            </a:r>
          </a:p>
          <a:p xmlns:a="http://schemas.openxmlformats.org/drawingml/2006/main">
            <a:pPr algn="l">
              <a:defRPr sz="15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• Independent Indian contract annotations</a:t>
            </a:r>
          </a:p>
          <a:p xmlns:a="http://schemas.openxmlformats.org/drawingml/2006/main">
            <a:pPr algn="l">
              <a:defRPr sz="15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• Longer-input summarization and OCR</a:t>
            </a:r>
          </a:p>
          <a:p xmlns:a="http://schemas.openxmlformats.org/drawingml/2006/main">
            <a:pPr algn="l">
              <a:defRPr sz="1575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• Expert review of summary faithfulness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79CC29-39C9-480A-869C-578549C2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38800"/>
            <a:ext cx="1108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Use the system as review assistance, with the source document beside every output.</a:t>
            </a:r>
          </a:p>
        </p:txBody>
      </p:sp>
    </p:spTree>
    <p:extLst>
      <p:ext uri="{BB962C8B-B14F-4D97-AF65-F5344CB8AC3E}">
        <p14:creationId xmlns:p14="http://schemas.microsoft.com/office/powerpoint/2010/main" val="5692757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AC5DFE-B35E-4C21-8B6E-4DEE54E0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1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51F2B4-88F0-4306-A3D1-B6BE9DB2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757B"/>
                </a:solidFill>
                <a:latin typeface="Arial"/>
                <a:ea typeface="Arial"/>
                <a:cs typeface="Arial"/>
              </a:rPr>
              <a:t>14 / 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7AE037-FEC7-451E-B6B9-A6DF5866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Sources and reproducibility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CE47CB-4113-4D0A-BA38-2E438FC6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01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79"/>
                </a:solidFill>
                <a:latin typeface="Arial"/>
                <a:ea typeface="Arial"/>
                <a:cs typeface="Arial"/>
              </a:rPr>
              <a:t>Selected sources; the final report contains the full literature review and 20 journal references.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BB0C7E-E5C5-43FD-B6BE-7514004A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78E4CF-E07C-4E0D-9C6D-9860CD50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366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366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679"/>
                </a:solidFill>
                <a:latin typeface="Arial"/>
                <a:ea typeface="Arial"/>
                <a:cs typeface="Arial"/>
              </a:rPr>
              <a:t>LEGAL NLP MINI-PROJECT  •  PILOT 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C3D4F5-F70E-4F71-90B0-D497B680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C451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4512E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D504A2-3055-4379-A07D-97806678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11087100" cy="36957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CB573A-DA20-47E2-A348-E0691C58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76475"/>
            <a:ext cx="1628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757B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23352D-0480-4E66-84F5-DAA8486B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266950"/>
            <a:ext cx="8743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IN-Abs: Shukla et al., AACL 2022; Zenodo DOI 10.5281/zenodo.7152317.</a:t>
            </a:r>
          </a:p>
          <a:p xmlns:a="http://schemas.openxmlformats.org/drawingml/2006/main">
            <a:pPr algn="l">
              <a:defRPr sz="135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CUAD v1: The Atticus Project, 2021; github.com/The-Atticus-Project/cuad.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72AB7E-A625-46BD-8D58-ABBFCA03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71825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ECC0F2-001C-4045-9C0E-39DA98B4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90900"/>
            <a:ext cx="1628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757B"/>
                </a:solidFill>
                <a:latin typeface="Arial"/>
                <a:ea typeface="Arial"/>
                <a:cs typeface="Arial"/>
              </a:rPr>
              <a:t>MODELS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08F137-CD6A-42EB-BF56-FE1EC925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87820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Chalkidis et al., “LEGAL-BERT,” Findings of EMNLP 2020.</a:t>
            </a:r>
          </a:p>
          <a:p xmlns:a="http://schemas.openxmlformats.org/drawingml/2006/main">
            <a:pPr algn="l">
              <a:defRPr sz="135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Raffel et al., “Exploring the Limits of Transfer Learning with a Unified Text-to-Text Transformer,” JMLR 2020.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AA4D48-802A-4056-99B9-A2BA0544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448175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C49CD9-274E-45AA-A883-2BB4A1AD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667250"/>
            <a:ext cx="1628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3757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757B"/>
                </a:solidFill>
                <a:latin typeface="Arial"/>
                <a:ea typeface="Arial"/>
                <a:cs typeface="Arial"/>
              </a:rPr>
              <a:t>PROJECT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A590F6-FF60-4D38-849C-5E54163E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657725"/>
            <a:ext cx="8724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reports/Final_Report.pdf  ·  docs/DATA_CARD.md</a:t>
            </a:r>
          </a:p>
          <a:p xmlns:a="http://schemas.openxmlformats.org/drawingml/2006/main">
            <a:pPr algn="l">
              <a:defRPr sz="135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docs/EXPERIMENT_RESULTS.md  ·  artifacts/pilot/*/test/metrics.json</a:t>
            </a:r>
          </a:p>
        </p:txBody>
      </p:sp>
    </p:spTree>
    <p:extLst>
      <p:ext uri="{BB962C8B-B14F-4D97-AF65-F5344CB8AC3E}">
        <p14:creationId xmlns:p14="http://schemas.microsoft.com/office/powerpoint/2010/main" val="21402036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2026-10-12T16:30:53.6400000Z</dcterms:created>
  <dcterms:modified xsi:type="dcterms:W3CDTF">2026-10-12T16:30:53.6400000Z</dcterms:modified>
</coreProperties>
</file>